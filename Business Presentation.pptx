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8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3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0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63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0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0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0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5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19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6040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82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67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82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47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7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ADD57DC-84CC-499F-B75E-53938F97E33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34EB3-050C-4D09-B602-80AFFFDA5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53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67BD-EC4C-C39F-A123-ACD344BB9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7759"/>
            <a:ext cx="9144000" cy="1726133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chemeClr val="tx1"/>
                </a:solidFill>
              </a:rPr>
            </a:b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TELCO CUSTOMER CHURN ANALYSIS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EB5C4-DDF8-EA63-5ED4-CD2BDF9E9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829"/>
            <a:ext cx="9144000" cy="2257568"/>
          </a:xfrm>
        </p:spPr>
        <p:txBody>
          <a:bodyPr>
            <a:normAutofit fontScale="77500" lnSpcReduction="20000"/>
          </a:bodyPr>
          <a:lstStyle/>
          <a:p>
            <a:pPr algn="ctr"/>
            <a:endParaRPr lang="en-US" sz="3300" b="1" dirty="0"/>
          </a:p>
          <a:p>
            <a:pPr algn="ctr"/>
            <a:endParaRPr lang="en-US" b="1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Prepared by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Wisdom Ukah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AnalystLab Africa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Weekly Assignment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01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3B27-67F2-910A-AF74-8684DA29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Business 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2166-FE30-558A-A76E-DDEC2EEF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0" y="1833797"/>
            <a:ext cx="9942409" cy="4305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Business Problem</a:t>
            </a:r>
          </a:p>
          <a:p>
            <a:r>
              <a:rPr lang="en-US" sz="1800" dirty="0"/>
              <a:t>The telecom company is experiencing customer churn, resulting in revenue loss and increased customer acquisition costs. Understanding why customers leave is essential for improving customer retention.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Analyze customer behavior.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Identify churn drivers.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Evaluate customer retention.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Build an interactive Power BI dashboard.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Recommend strategies to reduce churn.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131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0B00-544C-EC7A-CBB3-C5890976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79490"/>
            <a:ext cx="9942409" cy="5696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044D4-18A0-6A37-C74B-A6FCE653D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1" y="1454046"/>
            <a:ext cx="9954718" cy="5231568"/>
          </a:xfrm>
        </p:spPr>
        <p:txBody>
          <a:bodyPr>
            <a:normAutofit/>
          </a:bodyPr>
          <a:lstStyle/>
          <a:p>
            <a:pPr lvl="0"/>
            <a:r>
              <a:rPr lang="en-US" sz="1800" dirty="0"/>
              <a:t>Dataset: Telco Customer Churn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Total Customers: 7,043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Total Features: 21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Tool Used: Microsoft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>
              <a:buNone/>
            </a:pPr>
            <a:r>
              <a:rPr lang="en-US" sz="1800" b="1" dirty="0"/>
              <a:t>Key Variables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Gender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Contract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Tenure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Internet Service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Payment Method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Monthly Charges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Churn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3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5A19-E884-BC18-56E2-4BCDCEA5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8E17E-B2A7-D923-C182-CE1E5AF87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1" y="1652548"/>
            <a:ext cx="10515600" cy="3384147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Imported dataset into Power BI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Checked for missing values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Corrected data types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Cleaned inconsistent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Created KPIs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Built interactive dashboard 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91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7DEE-C71A-EDD0-0922-981A54C9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" y="0"/>
            <a:ext cx="12145831" cy="43170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A24C03-E03F-60E5-8B1A-7BA83E1FD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9626"/>
            <a:ext cx="12191999" cy="628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1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4C89-16D1-52FF-5661-1DCCA092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720"/>
            <a:ext cx="12192000" cy="568881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D4C4A8-E3BB-6293-38D3-0214E9630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528"/>
            <a:ext cx="12192000" cy="609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0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D816-54A9-5888-2E76-C91B025F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96" y="245203"/>
            <a:ext cx="10889104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Key Insights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72E72-6DFE-AD4A-9B8D-FD304BDE2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993" y="1015076"/>
            <a:ext cx="11774148" cy="4827848"/>
          </a:xfrm>
        </p:spPr>
        <p:txBody>
          <a:bodyPr>
            <a:normAutofit/>
          </a:bodyPr>
          <a:lstStyle/>
          <a:p>
            <a:r>
              <a:rPr lang="en-US" sz="1800" b="1" dirty="0"/>
              <a:t>Overall churn is significant: </a:t>
            </a:r>
            <a:r>
              <a:rPr lang="en-US" sz="1800" dirty="0"/>
              <a:t>The overall churn rate is </a:t>
            </a:r>
            <a:r>
              <a:rPr lang="en-US" sz="1800" b="1" dirty="0"/>
              <a:t>26.54%</a:t>
            </a:r>
            <a:r>
              <a:rPr lang="en-US" sz="1800" dirty="0"/>
              <a:t>, meaning more than one in four customers has churned. This indicates a significant customer retention challenge.</a:t>
            </a:r>
          </a:p>
          <a:p>
            <a:r>
              <a:rPr lang="en-US" sz="1800" b="1" dirty="0"/>
              <a:t>New customers are the highest risk tenure segment: </a:t>
            </a:r>
            <a:r>
              <a:rPr lang="en-US" sz="1800" dirty="0"/>
              <a:t>New customers have the lowest retention rate at </a:t>
            </a:r>
            <a:r>
              <a:rPr lang="en-US" sz="1800" b="1" dirty="0"/>
              <a:t>55.6%</a:t>
            </a:r>
            <a:r>
              <a:rPr lang="en-US" sz="1800" dirty="0"/>
              <a:t>, compared with </a:t>
            </a:r>
            <a:r>
              <a:rPr lang="en-US" sz="1800" b="1" dirty="0"/>
              <a:t>92.0%</a:t>
            </a:r>
            <a:r>
              <a:rPr lang="en-US" sz="1800" dirty="0"/>
              <a:t> for loyal customers. This shows that the early customer period is particularly vulnerable to churn.</a:t>
            </a:r>
          </a:p>
          <a:p>
            <a:r>
              <a:rPr lang="en-US" sz="1800" b="1" dirty="0"/>
              <a:t>Contract type is strongly associated with retention: Month to month customers have the highest churn</a:t>
            </a:r>
            <a:r>
              <a:rPr lang="en-US" sz="1800" dirty="0"/>
              <a:t>, while customers on longer term contracts demonstrate substantially better retention. This suggests that contract commitment is an important retention factor.</a:t>
            </a:r>
          </a:p>
          <a:p>
            <a:r>
              <a:rPr lang="en-US" sz="1800" b="1" dirty="0"/>
              <a:t>Electronic check users have the highest churn: </a:t>
            </a:r>
            <a:r>
              <a:rPr lang="en-US" sz="1800" dirty="0"/>
              <a:t>Customers using </a:t>
            </a:r>
            <a:r>
              <a:rPr lang="en-US" sz="1800" b="1" dirty="0"/>
              <a:t>electronic check have a 45.29% churn rate</a:t>
            </a:r>
            <a:r>
              <a:rPr lang="en-US" sz="1800" dirty="0"/>
              <a:t>, considerably higher than customers using other payment methods.</a:t>
            </a:r>
          </a:p>
          <a:p>
            <a:r>
              <a:rPr lang="en-US" sz="1800" b="1" dirty="0"/>
              <a:t>Support and security services are associated with better retention: </a:t>
            </a:r>
            <a:r>
              <a:rPr lang="en-US" sz="1800" dirty="0"/>
              <a:t>Customers without services such as </a:t>
            </a:r>
            <a:r>
              <a:rPr lang="en-US" sz="1800" b="1" dirty="0"/>
              <a:t>Tech Support and Online Security</a:t>
            </a:r>
            <a:r>
              <a:rPr lang="en-US" sz="1800" dirty="0"/>
              <a:t> show higher churn than customers who subscribe to these services, suggesting that additional support and security services may help improve retention.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6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1844-9D21-FB98-2313-8F42EA3C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29" y="168897"/>
            <a:ext cx="9404723" cy="881407"/>
          </a:xfrm>
        </p:spPr>
        <p:txBody>
          <a:bodyPr/>
          <a:lstStyle/>
          <a:p>
            <a:r>
              <a:rPr lang="en-US" dirty="0"/>
              <a:t>Business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14A5-BC5E-AFF1-4E5A-99635720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30" y="914400"/>
            <a:ext cx="11624319" cy="5471409"/>
          </a:xfrm>
        </p:spPr>
        <p:txBody>
          <a:bodyPr/>
          <a:lstStyle/>
          <a:p>
            <a:r>
              <a:rPr lang="en-US" b="1" dirty="0"/>
              <a:t>High early-stage customer loss: </a:t>
            </a:r>
            <a:r>
              <a:rPr lang="en-US" dirty="0"/>
              <a:t>The high churn among new customers creates a risk of losing customers before they develop long-term loyalty.</a:t>
            </a:r>
          </a:p>
          <a:p>
            <a:r>
              <a:rPr lang="en-US" b="1" dirty="0"/>
              <a:t>Dependence on month-to-month customers: </a:t>
            </a:r>
            <a:r>
              <a:rPr lang="en-US" dirty="0"/>
              <a:t>The high churn associated with month-to-month contracts creates a retention risk if customers are not encouraged to move to longer-term plans.</a:t>
            </a:r>
          </a:p>
          <a:p>
            <a:r>
              <a:rPr lang="en-US" b="1" dirty="0"/>
              <a:t>High churn among electronic-check users: </a:t>
            </a:r>
            <a:r>
              <a:rPr lang="en-US" dirty="0"/>
              <a:t>The </a:t>
            </a:r>
            <a:r>
              <a:rPr lang="en-US" b="1" dirty="0"/>
              <a:t>45.29% churn rate</a:t>
            </a:r>
            <a:r>
              <a:rPr lang="en-US" dirty="0"/>
              <a:t> among electronic-check customers represents a particularly high-risk segment and could contribute significantly to customer losses.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160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8D7A-C311-697D-DDCE-666568D4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02" y="124202"/>
            <a:ext cx="11203898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A0FF9-2B87-8BC9-29DD-255ACEFBC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2" y="1027906"/>
            <a:ext cx="11647356" cy="5043110"/>
          </a:xfrm>
        </p:spPr>
        <p:txBody>
          <a:bodyPr>
            <a:normAutofit fontScale="32500" lnSpcReduction="20000"/>
          </a:bodyPr>
          <a:lstStyle/>
          <a:p>
            <a:r>
              <a:rPr lang="en-US" sz="6200" b="1" dirty="0"/>
              <a:t>Create a new customer retention program</a:t>
            </a:r>
            <a:r>
              <a:rPr lang="en-US" sz="6200" dirty="0"/>
              <a:t> with follow ups during the first few months to identify and address early signs of dissatisfaction.</a:t>
            </a:r>
          </a:p>
          <a:p>
            <a:endParaRPr lang="en-US" sz="6200" dirty="0"/>
          </a:p>
          <a:p>
            <a:r>
              <a:rPr lang="en-US" sz="6200" b="1" dirty="0"/>
              <a:t>Offer incentives for longer term contracts</a:t>
            </a:r>
            <a:r>
              <a:rPr lang="en-US" sz="6200" dirty="0"/>
              <a:t>, such as discounts or additional benefits for customers who move from month-to-month plans.</a:t>
            </a:r>
          </a:p>
          <a:p>
            <a:endParaRPr lang="en-US" sz="6200" dirty="0"/>
          </a:p>
          <a:p>
            <a:r>
              <a:rPr lang="en-US" sz="6200" b="1" dirty="0"/>
              <a:t>Investigate electronic check customers</a:t>
            </a:r>
            <a:r>
              <a:rPr lang="en-US" sz="6200" dirty="0"/>
              <a:t> to understand why their churn rate is substantially higher and encourage alternative payment methods where appropriate.</a:t>
            </a:r>
          </a:p>
          <a:p>
            <a:endParaRPr lang="en-US" sz="6200" dirty="0"/>
          </a:p>
          <a:p>
            <a:r>
              <a:rPr lang="en-US" sz="6200" b="1" dirty="0"/>
              <a:t>Promote Tech Support and Online Security services</a:t>
            </a:r>
            <a:r>
              <a:rPr lang="en-US" sz="6200" dirty="0"/>
              <a:t> through targeted bundles, discounts, or free trial periods.</a:t>
            </a:r>
          </a:p>
          <a:p>
            <a:endParaRPr lang="en-US" sz="6200" dirty="0"/>
          </a:p>
          <a:p>
            <a:r>
              <a:rPr lang="en-US" sz="6200" b="1" dirty="0"/>
              <a:t>Develop targeted retention campaigns</a:t>
            </a:r>
            <a:r>
              <a:rPr lang="en-US" sz="6200" dirty="0"/>
              <a:t> for high-risk customer segments, using customer characteristics such as tenure, contract type, payment method, and service subscriptions to identify customers most likely to churn.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5D1A-85B6-A87B-4733-ABACE4A2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CA3B0-F76B-96A2-F923-251A58B3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1" y="1886766"/>
            <a:ext cx="9942409" cy="3084468"/>
          </a:xfrm>
        </p:spPr>
        <p:txBody>
          <a:bodyPr>
            <a:normAutofit/>
          </a:bodyPr>
          <a:lstStyle/>
          <a:p>
            <a:r>
              <a:rPr lang="en-US" sz="1600" dirty="0"/>
              <a:t>This analysis identified the key drivers of customer churn and provided actionable recommendations to improve customer retention. The interactive dashboard enables management to make informed, data-driven decisions.</a:t>
            </a:r>
          </a:p>
          <a:p>
            <a:endParaRPr lang="en-US" sz="1600" dirty="0"/>
          </a:p>
          <a:p>
            <a:r>
              <a:rPr lang="en-US" sz="2000" b="1" dirty="0"/>
              <a:t>Thank You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2204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549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  TELCO CUSTOMER CHURN ANALYSIS </vt:lpstr>
      <vt:lpstr>Business Problem &amp; Objectives</vt:lpstr>
      <vt:lpstr>Dataset Overview</vt:lpstr>
      <vt:lpstr>Data Preparation</vt:lpstr>
      <vt:lpstr>Dashboard Overview</vt:lpstr>
      <vt:lpstr>Dashboard Overview</vt:lpstr>
      <vt:lpstr>Key Insights </vt:lpstr>
      <vt:lpstr>Business Risks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wisdom ukah</dc:creator>
  <cp:lastModifiedBy>wisdom ukah</cp:lastModifiedBy>
  <cp:revision>4</cp:revision>
  <dcterms:created xsi:type="dcterms:W3CDTF">2026-08-07T20:55:58Z</dcterms:created>
  <dcterms:modified xsi:type="dcterms:W3CDTF">2026-08-08T17:38:26Z</dcterms:modified>
</cp:coreProperties>
</file>